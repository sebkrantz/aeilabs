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3887"/>
    <p:restoredTop sz="94722"/>
  </p:normalViewPr>
  <p:slideViewPr>
    <p:cSldViewPr snapToGrid="0">
      <p:cViewPr varScale="1">
        <p:scale>
          <a:sx n="118" d="100"/>
          <a:sy n="118" d="100"/>
        </p:scale>
        <p:origin x="656" y="2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DBF3C86-E8E6-1218-F975-5F240DFE492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77B88B8-154D-3B81-BD6B-442515BBC949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49AE34-D5F4-54EC-8CF3-026E2A91D7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D20B9-AB87-6248-84A5-330041914EF6}" type="datetimeFigureOut">
              <a:rPr lang="en-DE" smtClean="0"/>
              <a:t>07.04.26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CB78334-556F-32C4-50B6-51B6F95D12F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90BD643-E327-824B-A7FF-C4A3AFC75E7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45C0-5A75-404B-8ABC-CF91495F45D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083599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EB238-B7F1-7F61-A00F-98A820BA5B7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C05AA33-3D7F-996F-F8A6-054C3543BF0F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DC5A640-4ACD-ED9F-09A1-B263A557FE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D20B9-AB87-6248-84A5-330041914EF6}" type="datetimeFigureOut">
              <a:rPr lang="en-DE" smtClean="0"/>
              <a:t>07.04.26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72FFF9D-7444-E23F-8FF2-F30F8D5596C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6CAD691-C670-54F5-B7C5-AAF5F1DAA1D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45C0-5A75-404B-8ABC-CF91495F45D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499767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817ECE3-63D5-991E-9DD0-36D949B1D77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F253AF4E-7A1B-EAD9-A0FF-39E57122B28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2EA895-59B5-FB0C-9369-A74F99894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D20B9-AB87-6248-84A5-330041914EF6}" type="datetimeFigureOut">
              <a:rPr lang="en-DE" smtClean="0"/>
              <a:t>07.04.26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44FFCA-ADA0-4019-2EAA-36E9B0BB88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72459AE-91C0-08F9-828C-2D29B63589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45C0-5A75-404B-8ABC-CF91495F45D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70898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C71768-51D7-F1E2-F550-F76614D752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D32A1CD-06EA-5550-9BC6-30912979F66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7850CFA-7F22-B108-AD86-1B6CF14F43A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6B4D4B1-D8C9-437E-96AE-19C22CE25A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D20B9-AB87-6248-84A5-330041914EF6}" type="datetimeFigureOut">
              <a:rPr lang="en-DE" smtClean="0"/>
              <a:t>07.04.26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6582175-6014-A689-1D71-4BF76FC4B33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9D07DA4-0BF2-5E33-0CB7-9E8E01B2C9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45C0-5A75-404B-8ABC-CF91495F45D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2186784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E0754A-42B2-4267-3DE2-266009430F7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BE5533-0D03-C92A-4883-B799DB8AC99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37525A9-E2B9-F5EA-2A82-ECFA3B3CA96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DADA321-F3B6-4165-67D0-91F47F0F6ED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3576110A-C6B3-8A6E-4751-5A70E4691D74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BD72C697-0CBC-B559-C7D5-16DA0F1E27E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D20B9-AB87-6248-84A5-330041914EF6}" type="datetimeFigureOut">
              <a:rPr lang="en-DE" smtClean="0"/>
              <a:t>07.04.26</a:t>
            </a:fld>
            <a:endParaRPr lang="en-DE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BC3F1C1-793E-B9DC-7FDB-DE419B49CE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AC34D00-667F-D4AD-AB77-5F52299D4BA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45C0-5A75-404B-8ABC-CF91495F45D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973638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695CD1-0195-F435-26F0-7E4C830D67C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E548902-8D9E-B956-08DD-A631690A7AB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D20B9-AB87-6248-84A5-330041914EF6}" type="datetimeFigureOut">
              <a:rPr lang="en-DE" smtClean="0"/>
              <a:t>07.04.26</a:t>
            </a:fld>
            <a:endParaRPr lang="en-DE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66E1376-B58A-59F6-1ECC-B986A86C91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A5A09DB-9C51-F062-5B6C-5E9AA3D8393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45C0-5A75-404B-8ABC-CF91495F45D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17315074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F49D46-D27A-66CE-C225-975F4F33FDF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D20B9-AB87-6248-84A5-330041914EF6}" type="datetimeFigureOut">
              <a:rPr lang="en-DE" smtClean="0"/>
              <a:t>07.04.26</a:t>
            </a:fld>
            <a:endParaRPr lang="en-DE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CD6158-5255-5F11-91F3-E4E69DDAB20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99F3E3-A4F8-3D67-AEE2-725CC9D755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45C0-5A75-404B-8ABC-CF91495F45D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91181604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99E8D35-659A-7042-4995-D8F55A76CDE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EE90226-8021-A452-C5AD-F945443C677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AEA618-7FF9-D3C1-7241-3357D8DD3C9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4AFED1D-5636-0A76-F8A2-6097FA2FDA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D20B9-AB87-6248-84A5-330041914EF6}" type="datetimeFigureOut">
              <a:rPr lang="en-DE" smtClean="0"/>
              <a:t>07.04.26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C4E0B55-616C-DA1A-3EFC-7AB38DE13A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D1EEBA3-EC11-E81A-A12F-8FF6F2894F6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45C0-5A75-404B-8ABC-CF91495F45D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44230603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7489946-445C-F72E-15AC-23D61FCF3A9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A9967CA-EBD0-E720-EB03-F5B6C47097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DE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7DF1735-B35C-AB37-2CBC-FEBE92BEE65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716E7D0-90FB-2A48-08FC-803227A3E5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D20B9-AB87-6248-84A5-330041914EF6}" type="datetimeFigureOut">
              <a:rPr lang="en-DE" smtClean="0"/>
              <a:t>07.04.26</a:t>
            </a:fld>
            <a:endParaRPr lang="en-DE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D7E54C9-3205-6F0F-C650-2D2E8BB2722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F36F27E-06E0-864A-2A4A-61FCFEBA71F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45C0-5A75-404B-8ABC-CF91495F45D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41533572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52E91D-4E98-D043-CF68-6C5DCAE8ED6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C244B03-0DD5-EF2B-D278-742D9690235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7914A8-6A05-4191-E2EE-3C2C8F42A6A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D20B9-AB87-6248-84A5-330041914EF6}" type="datetimeFigureOut">
              <a:rPr lang="en-DE" smtClean="0"/>
              <a:t>07.04.26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08D8A0-8FB1-724E-E895-6A856A2E55F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BA3259F-061F-3FEA-DE9F-378BD1F768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45C0-5A75-404B-8ABC-CF91495F45D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329948387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9D845B27-7C65-ADF4-BCD2-1B099A34620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25D7C34-1786-E764-F7A3-F779C70C3A5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FC66549-0CA1-7AD0-F20B-AFE31A5C23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1CD20B9-AB87-6248-84A5-330041914EF6}" type="datetimeFigureOut">
              <a:rPr lang="en-DE" smtClean="0"/>
              <a:t>07.04.26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6B91994-838F-DDA4-1790-15F8C0622CA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FE8841D-21F6-0A63-3325-F997C96A60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9D5E45C0-5A75-404B-8ABC-CF91495F45D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25140022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AAF518E8-6B0A-8EEA-50F5-48D6D19A2DA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DE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8DBCA480-D3F2-5679-F7A0-897B8D09972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DE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44F75F8-9A38-101F-BEB4-3B717910E3F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F1CD20B9-AB87-6248-84A5-330041914EF6}" type="datetimeFigureOut">
              <a:rPr lang="en-DE" smtClean="0"/>
              <a:t>07.04.26</a:t>
            </a:fld>
            <a:endParaRPr lang="en-DE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779028-AA76-CF78-FE4A-8522BA824DD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DE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B78DAA-D281-EC87-9102-96834A0D9AE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9D5E45C0-5A75-404B-8ABC-CF91495F45DE}" type="slidenum">
              <a:rPr lang="en-DE" smtClean="0"/>
              <a:t>‹#›</a:t>
            </a:fld>
            <a:endParaRPr lang="en-DE"/>
          </a:p>
        </p:txBody>
      </p:sp>
    </p:spTree>
    <p:extLst>
      <p:ext uri="{BB962C8B-B14F-4D97-AF65-F5344CB8AC3E}">
        <p14:creationId xmlns:p14="http://schemas.microsoft.com/office/powerpoint/2010/main" val="1163351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DE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3D224B2-D2D6-7833-B17F-5C46B3CE4B20}"/>
              </a:ext>
            </a:extLst>
          </p:cNvPr>
          <p:cNvSpPr txBox="1"/>
          <p:nvPr/>
        </p:nvSpPr>
        <p:spPr>
          <a:xfrm>
            <a:off x="3902481" y="388955"/>
            <a:ext cx="3639312" cy="9233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DE" dirty="0"/>
              <a:t>Global (New) Quantitative Trade Model with Input-Output Linkages and Detailed Sectoral Coverage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75506964-6E28-E8D8-BE5A-51EE2B8684D3}"/>
              </a:ext>
            </a:extLst>
          </p:cNvPr>
          <p:cNvSpPr txBox="1"/>
          <p:nvPr/>
        </p:nvSpPr>
        <p:spPr>
          <a:xfrm>
            <a:off x="254097" y="1992934"/>
            <a:ext cx="3413760" cy="147732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DE" dirty="0"/>
              <a:t>National Computable General Equilibrium Models (SAM-based) with Activities, Commodities, Factors, Institutions, Fixed Exchange Rate Closure.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1C0CBE5-C39C-FF76-F01A-6FA25C8A62A2}"/>
              </a:ext>
            </a:extLst>
          </p:cNvPr>
          <p:cNvSpPr txBox="1"/>
          <p:nvPr/>
        </p:nvSpPr>
        <p:spPr>
          <a:xfrm>
            <a:off x="7623273" y="1992934"/>
            <a:ext cx="3413760" cy="1477328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DE" dirty="0"/>
              <a:t>Global Multimodal Transport Model Mapping Trade Flows along Five Modes (Road, Rail, Inland Water, Shipping, Air). 4000 Centroids Globally. 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1259E42-9230-21A6-8B67-A552DB194DB2}"/>
              </a:ext>
            </a:extLst>
          </p:cNvPr>
          <p:cNvSpPr txBox="1"/>
          <p:nvPr/>
        </p:nvSpPr>
        <p:spPr>
          <a:xfrm>
            <a:off x="3790523" y="4253460"/>
            <a:ext cx="3751270" cy="646331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DE" dirty="0"/>
              <a:t>Quantiative Regional Model with Mobile Labor (ADM1/2 Regions).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B87D69-1E80-F735-8990-34E9ACA80FD0}"/>
              </a:ext>
            </a:extLst>
          </p:cNvPr>
          <p:cNvSpPr txBox="1"/>
          <p:nvPr/>
        </p:nvSpPr>
        <p:spPr>
          <a:xfrm>
            <a:off x="2659306" y="5661693"/>
            <a:ext cx="6013704" cy="923330"/>
          </a:xfrm>
          <a:prstGeom prst="rect">
            <a:avLst/>
          </a:prstGeom>
          <a:noFill/>
          <a:ln w="28575"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DE" dirty="0"/>
              <a:t>10m resolution vector embeddings (AETHER: </a:t>
            </a:r>
            <a:r>
              <a:rPr lang="en-GB" dirty="0" err="1"/>
              <a:t>AlphaEarth</a:t>
            </a:r>
            <a:r>
              <a:rPr lang="en-GB" dirty="0"/>
              <a:t>–POI Enriched Representation Learning for Human-</a:t>
            </a:r>
            <a:r>
              <a:rPr lang="en-GB" dirty="0" err="1"/>
              <a:t>Centered</a:t>
            </a:r>
            <a:r>
              <a:rPr lang="en-GB" dirty="0"/>
              <a:t> Urban Analysis) for hyper-local analysis</a:t>
            </a:r>
            <a:r>
              <a:rPr lang="en-DE" dirty="0"/>
              <a:t>. </a:t>
            </a:r>
          </a:p>
        </p:txBody>
      </p:sp>
      <p:cxnSp>
        <p:nvCxnSpPr>
          <p:cNvPr id="10" name="Straight Arrow Connector 9">
            <a:extLst>
              <a:ext uri="{FF2B5EF4-FFF2-40B4-BE49-F238E27FC236}">
                <a16:creationId xmlns:a16="http://schemas.microsoft.com/office/drawing/2014/main" id="{9650DB81-F8DF-3C1B-3D63-614284B09704}"/>
              </a:ext>
            </a:extLst>
          </p:cNvPr>
          <p:cNvCxnSpPr>
            <a:cxnSpLocks/>
            <a:stCxn id="4" idx="1"/>
            <a:endCxn id="5" idx="0"/>
          </p:cNvCxnSpPr>
          <p:nvPr/>
        </p:nvCxnSpPr>
        <p:spPr>
          <a:xfrm flipH="1">
            <a:off x="1960977" y="850620"/>
            <a:ext cx="1941504" cy="1142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7C91D03C-1CCB-CBAF-4286-C4C90BB0C6A1}"/>
              </a:ext>
            </a:extLst>
          </p:cNvPr>
          <p:cNvCxnSpPr>
            <a:cxnSpLocks/>
            <a:stCxn id="5" idx="3"/>
            <a:endCxn id="4" idx="2"/>
          </p:cNvCxnSpPr>
          <p:nvPr/>
        </p:nvCxnSpPr>
        <p:spPr>
          <a:xfrm flipV="1">
            <a:off x="3667857" y="1312285"/>
            <a:ext cx="2054280" cy="1419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Straight Arrow Connector 15">
            <a:extLst>
              <a:ext uri="{FF2B5EF4-FFF2-40B4-BE49-F238E27FC236}">
                <a16:creationId xmlns:a16="http://schemas.microsoft.com/office/drawing/2014/main" id="{4577791D-7A0F-F43A-0488-66D819C564D8}"/>
              </a:ext>
            </a:extLst>
          </p:cNvPr>
          <p:cNvCxnSpPr>
            <a:cxnSpLocks/>
            <a:stCxn id="4" idx="3"/>
            <a:endCxn id="6" idx="0"/>
          </p:cNvCxnSpPr>
          <p:nvPr/>
        </p:nvCxnSpPr>
        <p:spPr>
          <a:xfrm>
            <a:off x="7541793" y="850620"/>
            <a:ext cx="1788360" cy="114231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>
            <a:extLst>
              <a:ext uri="{FF2B5EF4-FFF2-40B4-BE49-F238E27FC236}">
                <a16:creationId xmlns:a16="http://schemas.microsoft.com/office/drawing/2014/main" id="{658BB8B8-B1B2-9ED1-83E9-8E321CBC9213}"/>
              </a:ext>
            </a:extLst>
          </p:cNvPr>
          <p:cNvCxnSpPr>
            <a:cxnSpLocks/>
            <a:stCxn id="6" idx="1"/>
            <a:endCxn id="4" idx="2"/>
          </p:cNvCxnSpPr>
          <p:nvPr/>
        </p:nvCxnSpPr>
        <p:spPr>
          <a:xfrm flipH="1" flipV="1">
            <a:off x="5722137" y="1312285"/>
            <a:ext cx="1901136" cy="1419313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>
            <a:extLst>
              <a:ext uri="{FF2B5EF4-FFF2-40B4-BE49-F238E27FC236}">
                <a16:creationId xmlns:a16="http://schemas.microsoft.com/office/drawing/2014/main" id="{ADC91233-87D5-ACAE-2CE8-BA0E127E3B1C}"/>
              </a:ext>
            </a:extLst>
          </p:cNvPr>
          <p:cNvCxnSpPr>
            <a:cxnSpLocks/>
            <a:stCxn id="7" idx="1"/>
            <a:endCxn id="5" idx="2"/>
          </p:cNvCxnSpPr>
          <p:nvPr/>
        </p:nvCxnSpPr>
        <p:spPr>
          <a:xfrm flipH="1" flipV="1">
            <a:off x="1960977" y="3470262"/>
            <a:ext cx="1829546" cy="11063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>
            <a:extLst>
              <a:ext uri="{FF2B5EF4-FFF2-40B4-BE49-F238E27FC236}">
                <a16:creationId xmlns:a16="http://schemas.microsoft.com/office/drawing/2014/main" id="{FBF2C49B-A156-596B-BAD2-5D11246FA23D}"/>
              </a:ext>
            </a:extLst>
          </p:cNvPr>
          <p:cNvCxnSpPr>
            <a:cxnSpLocks/>
            <a:endCxn id="7" idx="0"/>
          </p:cNvCxnSpPr>
          <p:nvPr/>
        </p:nvCxnSpPr>
        <p:spPr>
          <a:xfrm>
            <a:off x="3674548" y="2741814"/>
            <a:ext cx="1991610" cy="1511646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6" name="Straight Arrow Connector 25">
            <a:extLst>
              <a:ext uri="{FF2B5EF4-FFF2-40B4-BE49-F238E27FC236}">
                <a16:creationId xmlns:a16="http://schemas.microsoft.com/office/drawing/2014/main" id="{BD91E4B2-9EDD-D675-9DD6-AB6CE21BD5AA}"/>
              </a:ext>
            </a:extLst>
          </p:cNvPr>
          <p:cNvCxnSpPr>
            <a:cxnSpLocks/>
            <a:stCxn id="6" idx="1"/>
            <a:endCxn id="7" idx="0"/>
          </p:cNvCxnSpPr>
          <p:nvPr/>
        </p:nvCxnSpPr>
        <p:spPr>
          <a:xfrm flipH="1">
            <a:off x="5666158" y="2731598"/>
            <a:ext cx="1957115" cy="152186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0" name="Straight Arrow Connector 29">
            <a:extLst>
              <a:ext uri="{FF2B5EF4-FFF2-40B4-BE49-F238E27FC236}">
                <a16:creationId xmlns:a16="http://schemas.microsoft.com/office/drawing/2014/main" id="{0FEAB059-6F91-07E8-F8BF-4A33DA85BD8A}"/>
              </a:ext>
            </a:extLst>
          </p:cNvPr>
          <p:cNvCxnSpPr>
            <a:cxnSpLocks/>
            <a:stCxn id="7" idx="3"/>
            <a:endCxn id="6" idx="2"/>
          </p:cNvCxnSpPr>
          <p:nvPr/>
        </p:nvCxnSpPr>
        <p:spPr>
          <a:xfrm flipV="1">
            <a:off x="7541793" y="3470262"/>
            <a:ext cx="1788360" cy="1106364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6" name="Straight Arrow Connector 35">
            <a:extLst>
              <a:ext uri="{FF2B5EF4-FFF2-40B4-BE49-F238E27FC236}">
                <a16:creationId xmlns:a16="http://schemas.microsoft.com/office/drawing/2014/main" id="{7FD7C57D-1E8B-E4D5-A251-C904167C0687}"/>
              </a:ext>
            </a:extLst>
          </p:cNvPr>
          <p:cNvCxnSpPr>
            <a:cxnSpLocks/>
            <a:stCxn id="7" idx="2"/>
            <a:endCxn id="8" idx="0"/>
          </p:cNvCxnSpPr>
          <p:nvPr/>
        </p:nvCxnSpPr>
        <p:spPr>
          <a:xfrm>
            <a:off x="5666158" y="4899791"/>
            <a:ext cx="0" cy="761902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39" name="TextBox 38">
            <a:extLst>
              <a:ext uri="{FF2B5EF4-FFF2-40B4-BE49-F238E27FC236}">
                <a16:creationId xmlns:a16="http://schemas.microsoft.com/office/drawing/2014/main" id="{4493853C-42F6-BFF5-7C33-E62D4631037B}"/>
              </a:ext>
            </a:extLst>
          </p:cNvPr>
          <p:cNvSpPr txBox="1"/>
          <p:nvPr/>
        </p:nvSpPr>
        <p:spPr>
          <a:xfrm>
            <a:off x="8354493" y="960112"/>
            <a:ext cx="17883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200" dirty="0"/>
              <a:t>Trade Flows  / Policy Changes</a:t>
            </a:r>
          </a:p>
        </p:txBody>
      </p:sp>
      <p:sp>
        <p:nvSpPr>
          <p:cNvPr id="40" name="TextBox 39">
            <a:extLst>
              <a:ext uri="{FF2B5EF4-FFF2-40B4-BE49-F238E27FC236}">
                <a16:creationId xmlns:a16="http://schemas.microsoft.com/office/drawing/2014/main" id="{86FC0225-0E3B-353A-48F4-D7394BD84A8E}"/>
              </a:ext>
            </a:extLst>
          </p:cNvPr>
          <p:cNvSpPr txBox="1"/>
          <p:nvPr/>
        </p:nvSpPr>
        <p:spPr>
          <a:xfrm>
            <a:off x="1793080" y="1068255"/>
            <a:ext cx="147091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200" dirty="0"/>
              <a:t>Trade Flows / Policy Changes</a:t>
            </a:r>
          </a:p>
        </p:txBody>
      </p:sp>
      <p:sp>
        <p:nvSpPr>
          <p:cNvPr id="41" name="TextBox 40">
            <a:extLst>
              <a:ext uri="{FF2B5EF4-FFF2-40B4-BE49-F238E27FC236}">
                <a16:creationId xmlns:a16="http://schemas.microsoft.com/office/drawing/2014/main" id="{45B51AA3-1D70-8E7C-6845-86561A7CA82B}"/>
              </a:ext>
            </a:extLst>
          </p:cNvPr>
          <p:cNvSpPr txBox="1"/>
          <p:nvPr/>
        </p:nvSpPr>
        <p:spPr>
          <a:xfrm>
            <a:off x="6517964" y="1476523"/>
            <a:ext cx="147091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200" dirty="0"/>
              <a:t>Infrastructure Additions /  Disruptions</a:t>
            </a:r>
          </a:p>
        </p:txBody>
      </p:sp>
      <p:sp>
        <p:nvSpPr>
          <p:cNvPr id="42" name="TextBox 41">
            <a:extLst>
              <a:ext uri="{FF2B5EF4-FFF2-40B4-BE49-F238E27FC236}">
                <a16:creationId xmlns:a16="http://schemas.microsoft.com/office/drawing/2014/main" id="{586FDAB3-5A2B-45FD-5676-307A9145B560}"/>
              </a:ext>
            </a:extLst>
          </p:cNvPr>
          <p:cNvSpPr txBox="1"/>
          <p:nvPr/>
        </p:nvSpPr>
        <p:spPr>
          <a:xfrm>
            <a:off x="3675678" y="1526816"/>
            <a:ext cx="16080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200" dirty="0"/>
              <a:t>Sectoral Shocks or National Policies Affecting Trade</a:t>
            </a:r>
          </a:p>
        </p:txBody>
      </p:sp>
      <p:sp>
        <p:nvSpPr>
          <p:cNvPr id="43" name="TextBox 42">
            <a:extLst>
              <a:ext uri="{FF2B5EF4-FFF2-40B4-BE49-F238E27FC236}">
                <a16:creationId xmlns:a16="http://schemas.microsoft.com/office/drawing/2014/main" id="{4824F09F-21C6-3C05-7B79-36D9FBC66620}"/>
              </a:ext>
            </a:extLst>
          </p:cNvPr>
          <p:cNvSpPr txBox="1"/>
          <p:nvPr/>
        </p:nvSpPr>
        <p:spPr>
          <a:xfrm>
            <a:off x="5415923" y="2671210"/>
            <a:ext cx="1788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200" dirty="0"/>
              <a:t>Changes in Infrastructure Affecting Connectivity / Welfare</a:t>
            </a:r>
          </a:p>
        </p:txBody>
      </p:sp>
      <p:sp>
        <p:nvSpPr>
          <p:cNvPr id="44" name="TextBox 43">
            <a:extLst>
              <a:ext uri="{FF2B5EF4-FFF2-40B4-BE49-F238E27FC236}">
                <a16:creationId xmlns:a16="http://schemas.microsoft.com/office/drawing/2014/main" id="{E5397274-D7C5-B5DF-A4C0-C7DA577B3766}"/>
              </a:ext>
            </a:extLst>
          </p:cNvPr>
          <p:cNvSpPr txBox="1"/>
          <p:nvPr/>
        </p:nvSpPr>
        <p:spPr>
          <a:xfrm>
            <a:off x="8312119" y="3986673"/>
            <a:ext cx="1788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200" dirty="0"/>
              <a:t>Changes in Welfare / Local Population Affecting Trade Flows</a:t>
            </a: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75EEC1DE-B56D-7020-123E-6D23F288C99C}"/>
              </a:ext>
            </a:extLst>
          </p:cNvPr>
          <p:cNvSpPr txBox="1"/>
          <p:nvPr/>
        </p:nvSpPr>
        <p:spPr>
          <a:xfrm>
            <a:off x="3751417" y="3181414"/>
            <a:ext cx="17883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200" dirty="0"/>
              <a:t>Shocks affecting Regional productivity or Amenity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426C416C-22E7-3A9B-3CF6-7C0D1F40787A}"/>
              </a:ext>
            </a:extLst>
          </p:cNvPr>
          <p:cNvSpPr txBox="1"/>
          <p:nvPr/>
        </p:nvSpPr>
        <p:spPr>
          <a:xfrm>
            <a:off x="953574" y="3827745"/>
            <a:ext cx="17883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200" dirty="0"/>
              <a:t>Changes in Inter-Regional Inequality, Productivity, or Connectivity</a:t>
            </a:r>
          </a:p>
        </p:txBody>
      </p:sp>
      <p:sp>
        <p:nvSpPr>
          <p:cNvPr id="48" name="TextBox 47">
            <a:extLst>
              <a:ext uri="{FF2B5EF4-FFF2-40B4-BE49-F238E27FC236}">
                <a16:creationId xmlns:a16="http://schemas.microsoft.com/office/drawing/2014/main" id="{9EA0A46A-0133-AD31-133B-9965CD3589F4}"/>
              </a:ext>
            </a:extLst>
          </p:cNvPr>
          <p:cNvSpPr txBox="1"/>
          <p:nvPr/>
        </p:nvSpPr>
        <p:spPr>
          <a:xfrm>
            <a:off x="5722137" y="5050880"/>
            <a:ext cx="206646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200" dirty="0"/>
              <a:t>Local Welfare and Prices Extrapolation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111C3BBC-B4C7-4C67-BE6A-8CA6DC1B17FA}"/>
              </a:ext>
            </a:extLst>
          </p:cNvPr>
          <p:cNvSpPr txBox="1"/>
          <p:nvPr/>
        </p:nvSpPr>
        <p:spPr>
          <a:xfrm>
            <a:off x="26943" y="4934109"/>
            <a:ext cx="254393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DE" sz="1200" dirty="0"/>
              <a:t>Possibly AETHER embeddings can also be used to localize sectoral production, which allows deeper linkages between CGE, QRM, and Embedding Layer.</a:t>
            </a:r>
          </a:p>
        </p:txBody>
      </p:sp>
    </p:spTree>
    <p:extLst>
      <p:ext uri="{BB962C8B-B14F-4D97-AF65-F5344CB8AC3E}">
        <p14:creationId xmlns:p14="http://schemas.microsoft.com/office/powerpoint/2010/main" val="3673629298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49</TotalTime>
  <Words>176</Words>
  <Application>Microsoft Macintosh PowerPoint</Application>
  <PresentationFormat>Widescreen</PresentationFormat>
  <Paragraphs>15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Sebastian Krantz</dc:creator>
  <cp:lastModifiedBy>Sebastian Krantz</cp:lastModifiedBy>
  <cp:revision>2</cp:revision>
  <dcterms:created xsi:type="dcterms:W3CDTF">2026-04-07T20:50:20Z</dcterms:created>
  <dcterms:modified xsi:type="dcterms:W3CDTF">2026-04-07T22:03:50Z</dcterms:modified>
</cp:coreProperties>
</file>